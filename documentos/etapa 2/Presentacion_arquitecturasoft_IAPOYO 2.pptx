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92740" y="251460"/>
            <a:ext cx="1417320" cy="1417320"/>
          </a:xfrm>
          <a:prstGeom prst="ellipse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988960" y="251460"/>
            <a:ext cx="1007560" cy="101041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10058400" y="4526280"/>
            <a:ext cx="1737360" cy="1737360"/>
          </a:xfrm>
          <a:prstGeom prst="ellipse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1657" y="607535"/>
            <a:ext cx="6069822" cy="1010412"/>
          </a:xfrm>
          <a:prstGeom prst="round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6228" y="743580"/>
            <a:ext cx="566067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s-CO" dirty="0">
                <a:latin typeface="+mj-lt"/>
              </a:rPr>
              <a:t>Arquitectura </a:t>
            </a:r>
            <a:r>
              <a:rPr dirty="0">
                <a:latin typeface="+mj-lt"/>
              </a:rPr>
              <a:t>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315" y="1927509"/>
            <a:ext cx="542691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DCE8EB"/>
                </a:solidFill>
                <a:latin typeface="Aptos"/>
              </a:defRPr>
            </a:pPr>
            <a:r>
              <a:rPr sz="2400" dirty="0">
                <a:latin typeface="+mj-lt"/>
              </a:rPr>
              <a:t>Análisis del Proyecto integrator IAPOYO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56" y="2424296"/>
            <a:ext cx="458134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3D2D7"/>
                </a:solidFill>
                <a:latin typeface="Aptos"/>
              </a:defRPr>
            </a:pPr>
            <a:r>
              <a:rPr dirty="0" err="1">
                <a:latin typeface="+mj-lt"/>
              </a:rPr>
              <a:t>Tecnología</a:t>
            </a:r>
            <a:r>
              <a:rPr dirty="0">
                <a:latin typeface="+mj-lt"/>
              </a:rPr>
              <a:t> </a:t>
            </a:r>
            <a:r>
              <a:rPr dirty="0" err="1">
                <a:latin typeface="+mj-lt"/>
              </a:rPr>
              <a:t>en</a:t>
            </a:r>
            <a:r>
              <a:rPr dirty="0">
                <a:latin typeface="+mj-lt"/>
              </a:rPr>
              <a:t> Desarrollo de Software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69" y="3041635"/>
            <a:ext cx="2477237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CDDADE"/>
                </a:solidFill>
                <a:latin typeface="Aptos"/>
              </a:defRPr>
            </a:pPr>
            <a:r>
              <a:rPr lang="es-CO" sz="1600" dirty="0">
                <a:latin typeface="+mj-lt"/>
              </a:rPr>
              <a:t>Santiago Valle</a:t>
            </a:r>
          </a:p>
          <a:p>
            <a:pPr>
              <a:defRPr sz="1200" b="0">
                <a:solidFill>
                  <a:srgbClr val="CDDADE"/>
                </a:solidFill>
                <a:latin typeface="Aptos"/>
              </a:defRPr>
            </a:pPr>
            <a:r>
              <a:rPr lang="es-CO" sz="1600" dirty="0">
                <a:latin typeface="+mj-lt"/>
              </a:rPr>
              <a:t>Víctor Mendoza</a:t>
            </a:r>
          </a:p>
          <a:p>
            <a:pPr algn="l">
              <a:defRPr sz="1200" b="0">
                <a:solidFill>
                  <a:srgbClr val="CDDADE"/>
                </a:solidFill>
                <a:latin typeface="Aptos"/>
              </a:defRPr>
            </a:pPr>
            <a:r>
              <a:rPr sz="1600" dirty="0">
                <a:latin typeface="+mj-lt"/>
              </a:rPr>
              <a:t>Mike Garzón </a:t>
            </a:r>
            <a:endParaRPr lang="es-CO" sz="1600" dirty="0">
              <a:latin typeface="+mj-lt"/>
            </a:endParaRPr>
          </a:p>
          <a:p>
            <a:pPr algn="l">
              <a:defRPr sz="1200" b="0">
                <a:solidFill>
                  <a:srgbClr val="CDDADE"/>
                </a:solidFill>
                <a:latin typeface="Aptos"/>
              </a:defRPr>
            </a:pPr>
            <a:r>
              <a:rPr sz="1600" dirty="0">
                <a:latin typeface="+mj-lt"/>
              </a:rPr>
              <a:t>Santiago Cuartas </a:t>
            </a:r>
            <a:endParaRPr lang="es-CO" sz="1600" dirty="0">
              <a:latin typeface="+mj-lt"/>
            </a:endParaRPr>
          </a:p>
          <a:p>
            <a:pPr algn="l">
              <a:defRPr sz="1200" b="0">
                <a:solidFill>
                  <a:srgbClr val="CDDADE"/>
                </a:solidFill>
                <a:latin typeface="Aptos"/>
              </a:defRPr>
            </a:pPr>
            <a:r>
              <a:rPr lang="es-CO" sz="1600" dirty="0">
                <a:latin typeface="+mj-lt"/>
              </a:rPr>
              <a:t>Julián Sogamoso</a:t>
            </a:r>
            <a:endParaRPr sz="16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FC1C8"/>
                </a:solidFill>
                <a:latin typeface="Aptos"/>
              </a:defRPr>
            </a:pPr>
            <a:r>
              <a:rPr dirty="0"/>
              <a:t>Universidad de San Buenaventura · 2026</a:t>
            </a:r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FA0AB2C5-3E61-971A-55D4-80FDC5404DD6}"/>
              </a:ext>
            </a:extLst>
          </p:cNvPr>
          <p:cNvSpPr/>
          <p:nvPr/>
        </p:nvSpPr>
        <p:spPr>
          <a:xfrm>
            <a:off x="10788200" y="4296387"/>
            <a:ext cx="1007560" cy="1010412"/>
          </a:xfrm>
          <a:prstGeom prst="ellipse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2">
            <a:extLst>
              <a:ext uri="{FF2B5EF4-FFF2-40B4-BE49-F238E27FC236}">
                <a16:creationId xmlns:a16="http://schemas.microsoft.com/office/drawing/2014/main" id="{072F2496-0D1E-7D8D-8727-15E695DC432D}"/>
              </a:ext>
            </a:extLst>
          </p:cNvPr>
          <p:cNvSpPr/>
          <p:nvPr/>
        </p:nvSpPr>
        <p:spPr>
          <a:xfrm>
            <a:off x="10896723" y="1218661"/>
            <a:ext cx="1007560" cy="1010412"/>
          </a:xfrm>
          <a:prstGeom prst="ellipse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47B812B-1178-2615-CD8C-ABEF6ED6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77" b="11795"/>
          <a:stretch/>
        </p:blipFill>
        <p:spPr>
          <a:xfrm>
            <a:off x="3892960" y="2697178"/>
            <a:ext cx="6096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1. ¿</a:t>
            </a:r>
            <a:r>
              <a:rPr dirty="0" err="1">
                <a:latin typeface="+mj-lt"/>
              </a:rPr>
              <a:t>Qué</a:t>
            </a:r>
            <a:r>
              <a:rPr dirty="0">
                <a:latin typeface="+mj-lt"/>
              </a:rPr>
              <a:t> es IAPOYO?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33604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sz="1600" dirty="0" err="1"/>
              <a:t>Contexto</a:t>
            </a:r>
            <a:r>
              <a:rPr sz="1600" dirty="0"/>
              <a:t> y </a:t>
            </a:r>
            <a:r>
              <a:rPr sz="1600" dirty="0" err="1"/>
              <a:t>propósito</a:t>
            </a:r>
            <a:r>
              <a:rPr sz="1600" dirty="0"/>
              <a:t> del </a:t>
            </a:r>
            <a:r>
              <a:rPr sz="1600" dirty="0" err="1"/>
              <a:t>proyecto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8580" cy="1965960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572768"/>
            <a:ext cx="49377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Problema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4937759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lang="es-MX" sz="1600" dirty="0"/>
              <a:t>las apuestas digitales se han vuelto más comunes hoy en día y muchas personas no saben dónde encontrar información o ayuda y es por  eso que es necesario crear una herramienta digital que las oriente.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8580" cy="196596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419088" y="1572768"/>
            <a:ext cx="49377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Propuesta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493775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Crear un sitio web accesible y confidencial con orientación, autoevaluaciones, contenido </a:t>
            </a:r>
            <a:r>
              <a:rPr sz="1600" dirty="0" err="1"/>
              <a:t>educativo</a:t>
            </a:r>
            <a:r>
              <a:rPr sz="1600" dirty="0"/>
              <a:t> y rutas de </a:t>
            </a:r>
            <a:r>
              <a:rPr sz="1600" dirty="0" err="1"/>
              <a:t>atención</a:t>
            </a:r>
            <a:r>
              <a:rPr sz="16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8580" cy="1645920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841247" y="385876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/>
              <a:t>Público </a:t>
            </a:r>
            <a:r>
              <a:rPr sz="1600" dirty="0" err="1"/>
              <a:t>objetivo</a:t>
            </a:r>
            <a:endParaRPr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15187" y="4208466"/>
            <a:ext cx="30632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Estudiantes</a:t>
            </a:r>
            <a:r>
              <a:rPr sz="1600" dirty="0"/>
              <a:t> </a:t>
            </a:r>
            <a:r>
              <a:rPr sz="1600" dirty="0" err="1"/>
              <a:t>universitarios</a:t>
            </a:r>
            <a:r>
              <a:rPr sz="1600" dirty="0"/>
              <a:t>, </a:t>
            </a:r>
            <a:r>
              <a:rPr sz="1600" dirty="0" err="1"/>
              <a:t>profesionales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formación</a:t>
            </a:r>
            <a:r>
              <a:rPr sz="1600" dirty="0"/>
              <a:t>, personas </a:t>
            </a:r>
            <a:r>
              <a:rPr sz="1600" dirty="0" err="1"/>
              <a:t>interesadas</a:t>
            </a:r>
            <a:r>
              <a:rPr sz="1600" dirty="0"/>
              <a:t> y </a:t>
            </a:r>
            <a:r>
              <a:rPr sz="1600" dirty="0" err="1"/>
              <a:t>familiares</a:t>
            </a:r>
            <a:r>
              <a:rPr sz="1600"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47964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/>
          <p:cNvSpPr/>
          <p:nvPr/>
        </p:nvSpPr>
        <p:spPr>
          <a:xfrm>
            <a:off x="4389120" y="3703320"/>
            <a:ext cx="68580" cy="164592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4590288" y="385876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Alcance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4227" y="4133088"/>
            <a:ext cx="30632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Implementación</a:t>
            </a:r>
            <a:r>
              <a:rPr sz="1600" dirty="0"/>
              <a:t> </a:t>
            </a:r>
            <a:r>
              <a:rPr sz="1600" dirty="0" err="1"/>
              <a:t>inicial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Bogotá</a:t>
            </a:r>
            <a:r>
              <a:rPr lang="es-CO" sz="1600" dirty="0"/>
              <a:t> mas </a:t>
            </a:r>
            <a:r>
              <a:rPr lang="es-CO" sz="1600" dirty="0" err="1"/>
              <a:t>espcificamente</a:t>
            </a:r>
            <a:r>
              <a:rPr lang="es-CO" sz="1600" dirty="0"/>
              <a:t> en la parte Norte</a:t>
            </a:r>
            <a:r>
              <a:rPr sz="1600" dirty="0"/>
              <a:t>, con </a:t>
            </a:r>
            <a:r>
              <a:rPr sz="1600" dirty="0" err="1"/>
              <a:t>acceso</a:t>
            </a:r>
            <a:r>
              <a:rPr sz="1600" dirty="0"/>
              <a:t> </a:t>
            </a:r>
            <a:r>
              <a:rPr sz="1600" dirty="0" err="1"/>
              <a:t>abierto</a:t>
            </a:r>
            <a:r>
              <a:rPr sz="1600" dirty="0"/>
              <a:t> </a:t>
            </a:r>
            <a:r>
              <a:rPr sz="1600" dirty="0" err="1"/>
              <a:t>mediante</a:t>
            </a:r>
            <a:r>
              <a:rPr sz="1600" dirty="0"/>
              <a:t> Internet.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703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Rectangle 22"/>
          <p:cNvSpPr/>
          <p:nvPr/>
        </p:nvSpPr>
        <p:spPr>
          <a:xfrm>
            <a:off x="8138160" y="3703320"/>
            <a:ext cx="68580" cy="1645920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8339328" y="3858768"/>
            <a:ext cx="3017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Principios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15086"/>
            <a:ext cx="30175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Accesibilidad</a:t>
            </a:r>
            <a:r>
              <a:rPr sz="1600" dirty="0"/>
              <a:t>, </a:t>
            </a:r>
            <a:r>
              <a:rPr sz="1600" dirty="0" err="1"/>
              <a:t>experiencia</a:t>
            </a:r>
            <a:r>
              <a:rPr sz="1600" dirty="0"/>
              <a:t> de </a:t>
            </a:r>
            <a:r>
              <a:rPr sz="1600" dirty="0" err="1"/>
              <a:t>usuario</a:t>
            </a:r>
            <a:r>
              <a:rPr sz="1600" dirty="0"/>
              <a:t> y </a:t>
            </a:r>
            <a:r>
              <a:rPr sz="1600" dirty="0" err="1"/>
              <a:t>confidencialidad</a:t>
            </a:r>
            <a:r>
              <a:rPr sz="1600" dirty="0"/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t>Proyecto IAPOYO · Desarrollo de Software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6903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2. Procesos </a:t>
            </a:r>
            <a:r>
              <a:rPr dirty="0" err="1">
                <a:latin typeface="+mj-lt"/>
              </a:rPr>
              <a:t>fundamentales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3"/>
            <a:ext cx="427398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sz="1600" dirty="0" err="1"/>
              <a:t>Etapas</a:t>
            </a:r>
            <a:r>
              <a:rPr sz="1600" dirty="0"/>
              <a:t> </a:t>
            </a:r>
            <a:r>
              <a:rPr sz="1600" dirty="0" err="1"/>
              <a:t>principales</a:t>
            </a:r>
            <a:r>
              <a:rPr sz="1600" dirty="0"/>
              <a:t> para </a:t>
            </a:r>
            <a:r>
              <a:rPr sz="1600" dirty="0" err="1"/>
              <a:t>desarrollar</a:t>
            </a:r>
            <a:r>
              <a:rPr sz="1600" dirty="0"/>
              <a:t> IAPOYO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0594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Oval 6"/>
          <p:cNvSpPr/>
          <p:nvPr/>
        </p:nvSpPr>
        <p:spPr>
          <a:xfrm>
            <a:off x="1371600" y="2029968"/>
            <a:ext cx="685800" cy="685800"/>
          </a:xfrm>
          <a:prstGeom prst="ellipse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1371600" y="2229249"/>
            <a:ext cx="685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057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Especificación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80" y="3493008"/>
            <a:ext cx="1965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Definir</a:t>
            </a:r>
            <a:r>
              <a:rPr sz="1600" dirty="0"/>
              <a:t> </a:t>
            </a:r>
            <a:r>
              <a:rPr sz="1600" dirty="0" err="1"/>
              <a:t>necesidades</a:t>
            </a:r>
            <a:r>
              <a:rPr sz="1600" dirty="0"/>
              <a:t>, </a:t>
            </a:r>
            <a:r>
              <a:rPr sz="1600" dirty="0" err="1"/>
              <a:t>usuarios</a:t>
            </a:r>
            <a:r>
              <a:rPr lang="es-CO" sz="1600" dirty="0"/>
              <a:t> y</a:t>
            </a:r>
            <a:r>
              <a:rPr sz="1600" dirty="0"/>
              <a:t> </a:t>
            </a:r>
            <a:r>
              <a:rPr sz="1600" dirty="0" err="1"/>
              <a:t>requisitos</a:t>
            </a:r>
            <a:r>
              <a:rPr sz="16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Oval 11"/>
          <p:cNvSpPr/>
          <p:nvPr/>
        </p:nvSpPr>
        <p:spPr>
          <a:xfrm>
            <a:off x="4297680" y="2029968"/>
            <a:ext cx="685800" cy="685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2229323"/>
            <a:ext cx="685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80360"/>
            <a:ext cx="20574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Diseño e implementación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45168"/>
            <a:ext cx="1965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Convertir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requisitos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diseño</a:t>
            </a:r>
            <a:r>
              <a:rPr sz="1600" dirty="0"/>
              <a:t>, </a:t>
            </a:r>
            <a:r>
              <a:rPr sz="1600" dirty="0" err="1"/>
              <a:t>código</a:t>
            </a:r>
            <a:r>
              <a:rPr sz="1600" dirty="0"/>
              <a:t> y </a:t>
            </a:r>
            <a:r>
              <a:rPr sz="1600" dirty="0" err="1"/>
              <a:t>funcionalidades</a:t>
            </a:r>
            <a:r>
              <a:rPr sz="1600"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Oval 16"/>
          <p:cNvSpPr/>
          <p:nvPr/>
        </p:nvSpPr>
        <p:spPr>
          <a:xfrm>
            <a:off x="7223760" y="2029968"/>
            <a:ext cx="685800" cy="685800"/>
          </a:xfrm>
          <a:prstGeom prst="ellipse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7223760" y="2230797"/>
            <a:ext cx="685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20574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Validación y pruebas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93008"/>
            <a:ext cx="196596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Comprobar</a:t>
            </a:r>
            <a:r>
              <a:rPr sz="1600" dirty="0"/>
              <a:t> </a:t>
            </a:r>
            <a:r>
              <a:rPr sz="1600" dirty="0" err="1"/>
              <a:t>funcionamiento</a:t>
            </a:r>
            <a:r>
              <a:rPr sz="1600" dirty="0"/>
              <a:t> y </a:t>
            </a:r>
            <a:r>
              <a:rPr sz="1600" dirty="0" err="1"/>
              <a:t>experiencia</a:t>
            </a:r>
            <a:r>
              <a:rPr sz="1600" dirty="0"/>
              <a:t> de </a:t>
            </a:r>
            <a:r>
              <a:rPr sz="1600" dirty="0" err="1"/>
              <a:t>usuario</a:t>
            </a:r>
            <a:r>
              <a:rPr sz="1600"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869948"/>
            <a:ext cx="2423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Oval 21"/>
          <p:cNvSpPr/>
          <p:nvPr/>
        </p:nvSpPr>
        <p:spPr>
          <a:xfrm>
            <a:off x="10126980" y="2028936"/>
            <a:ext cx="685800" cy="685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10126980" y="2234248"/>
            <a:ext cx="685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880360"/>
            <a:ext cx="2057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Evolución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493008"/>
            <a:ext cx="19659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30393F"/>
                </a:solidFill>
                <a:latin typeface="Aptos"/>
              </a:defRPr>
            </a:pPr>
            <a:r>
              <a:rPr sz="1600" dirty="0" err="1"/>
              <a:t>Corregir</a:t>
            </a:r>
            <a:r>
              <a:rPr sz="1600" dirty="0"/>
              <a:t>, </a:t>
            </a:r>
            <a:r>
              <a:rPr sz="1600" dirty="0" err="1"/>
              <a:t>actualizar</a:t>
            </a:r>
            <a:r>
              <a:rPr sz="1600" dirty="0"/>
              <a:t> y </a:t>
            </a:r>
            <a:r>
              <a:rPr sz="1600" dirty="0" err="1"/>
              <a:t>mejorar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sistema</a:t>
            </a:r>
            <a:r>
              <a:rPr sz="1600" dirty="0"/>
              <a:t>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3456432"/>
            <a:ext cx="502920" cy="0"/>
          </a:xfrm>
          <a:prstGeom prst="line">
            <a:avLst/>
          </a:prstGeom>
          <a:ln w="25400">
            <a:solidFill>
              <a:srgbClr val="2D9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52160" y="3456432"/>
            <a:ext cx="502920" cy="0"/>
          </a:xfrm>
          <a:prstGeom prst="line">
            <a:avLst/>
          </a:prstGeom>
          <a:ln w="25400">
            <a:solidFill>
              <a:srgbClr val="2D9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78240" y="3456432"/>
            <a:ext cx="502920" cy="0"/>
          </a:xfrm>
          <a:prstGeom prst="line">
            <a:avLst/>
          </a:prstGeom>
          <a:ln w="25400">
            <a:solidFill>
              <a:srgbClr val="2D9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</a:t>
            </a:r>
            <a:r>
              <a:rPr dirty="0" err="1"/>
              <a:t>Desarroll</a:t>
            </a:r>
            <a:r>
              <a:rPr lang="es-CO" dirty="0"/>
              <a:t>o</a:t>
            </a:r>
            <a:r>
              <a:rPr dirty="0"/>
              <a:t> de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3. </a:t>
            </a:r>
            <a:r>
              <a:rPr dirty="0" err="1">
                <a:latin typeface="+mj-lt"/>
              </a:rPr>
              <a:t>Especificación</a:t>
            </a:r>
            <a:r>
              <a:rPr dirty="0">
                <a:latin typeface="+mj-lt"/>
              </a:rPr>
              <a:t> de </a:t>
            </a:r>
            <a:r>
              <a:rPr dirty="0" err="1">
                <a:latin typeface="+mj-lt"/>
              </a:rPr>
              <a:t>requisitos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441851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sz="1600" dirty="0"/>
              <a:t>Definir </a:t>
            </a:r>
            <a:r>
              <a:rPr sz="1600" dirty="0" err="1"/>
              <a:t>qué</a:t>
            </a:r>
            <a:r>
              <a:rPr sz="1600" dirty="0"/>
              <a:t> </a:t>
            </a:r>
            <a:r>
              <a:rPr sz="1600" dirty="0" err="1"/>
              <a:t>necesita</a:t>
            </a:r>
            <a:r>
              <a:rPr sz="1600" dirty="0"/>
              <a:t> y </a:t>
            </a:r>
            <a:r>
              <a:rPr sz="1600" dirty="0" err="1"/>
              <a:t>qué</a:t>
            </a:r>
            <a:r>
              <a:rPr sz="1600" dirty="0"/>
              <a:t> </a:t>
            </a:r>
            <a:r>
              <a:rPr sz="1600" dirty="0" err="1"/>
              <a:t>debe</a:t>
            </a:r>
            <a:r>
              <a:rPr sz="1600" dirty="0"/>
              <a:t> </a:t>
            </a:r>
            <a:r>
              <a:rPr sz="1600" dirty="0" err="1"/>
              <a:t>ofrecer</a:t>
            </a:r>
            <a:r>
              <a:rPr sz="1600" dirty="0"/>
              <a:t> IAPOYO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5340"/>
            <a:ext cx="3429000" cy="22708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95340"/>
            <a:ext cx="68580" cy="2270820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" y="145078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Actividades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95527" y="1889700"/>
            <a:ext cx="2855928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Identificar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problema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Analizar</a:t>
            </a:r>
            <a:r>
              <a:rPr sz="1600" dirty="0"/>
              <a:t> </a:t>
            </a:r>
            <a:r>
              <a:rPr sz="1600" dirty="0" err="1"/>
              <a:t>necesidades</a:t>
            </a:r>
            <a:br>
              <a:rPr sz="1600" dirty="0"/>
            </a:br>
            <a:r>
              <a:rPr sz="1600" dirty="0"/>
              <a:t>• </a:t>
            </a:r>
            <a:r>
              <a:rPr sz="1600" u="sng" dirty="0"/>
              <a:t>Definir usuarios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Determinar</a:t>
            </a:r>
            <a:r>
              <a:rPr sz="1600" dirty="0"/>
              <a:t> </a:t>
            </a:r>
            <a:r>
              <a:rPr sz="1600" dirty="0" err="1"/>
              <a:t>funcionalidades</a:t>
            </a:r>
            <a:br>
              <a:rPr sz="1600" dirty="0"/>
            </a:br>
            <a:r>
              <a:rPr sz="1600" dirty="0"/>
              <a:t>• </a:t>
            </a:r>
            <a:r>
              <a:rPr sz="1600" u="sng" dirty="0" err="1"/>
              <a:t>Establecer</a:t>
            </a:r>
            <a:r>
              <a:rPr sz="1600" u="sng" dirty="0"/>
              <a:t> </a:t>
            </a:r>
            <a:r>
              <a:rPr sz="1600" u="sng" dirty="0" err="1"/>
              <a:t>requisitos</a:t>
            </a:r>
            <a:br>
              <a:rPr sz="1600" dirty="0"/>
            </a:br>
            <a:r>
              <a:rPr sz="1600" dirty="0"/>
              <a:t>• </a:t>
            </a:r>
            <a:r>
              <a:rPr sz="1600" u="sng" dirty="0" err="1"/>
              <a:t>Definir</a:t>
            </a:r>
            <a:r>
              <a:rPr sz="1600" u="sng" dirty="0"/>
              <a:t> </a:t>
            </a:r>
            <a:r>
              <a:rPr sz="1600" u="sng" dirty="0" err="1"/>
              <a:t>el</a:t>
            </a:r>
            <a:r>
              <a:rPr sz="1600" u="sng" dirty="0"/>
              <a:t> </a:t>
            </a:r>
            <a:r>
              <a:rPr sz="1600" u="sng" dirty="0" err="1"/>
              <a:t>alcance</a:t>
            </a:r>
            <a:endParaRPr sz="1600" u="sng" dirty="0"/>
          </a:p>
        </p:txBody>
      </p:sp>
      <p:sp>
        <p:nvSpPr>
          <p:cNvPr id="10" name="Rounded Rectangle 9"/>
          <p:cNvSpPr/>
          <p:nvPr/>
        </p:nvSpPr>
        <p:spPr>
          <a:xfrm>
            <a:off x="2656332" y="3861089"/>
            <a:ext cx="3429000" cy="21640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6332" y="3861089"/>
            <a:ext cx="68580" cy="216402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7500" y="4016537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Productos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0" y="4455449"/>
            <a:ext cx="306324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Descripción</a:t>
            </a:r>
            <a:r>
              <a:rPr sz="1600" dirty="0"/>
              <a:t> del </a:t>
            </a:r>
            <a:r>
              <a:rPr sz="1600" dirty="0" err="1"/>
              <a:t>problema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Pregunta</a:t>
            </a:r>
            <a:r>
              <a:rPr sz="1600" dirty="0"/>
              <a:t> de </a:t>
            </a:r>
            <a:r>
              <a:rPr sz="1600" dirty="0" err="1"/>
              <a:t>investigación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Objetivos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Requisitos</a:t>
            </a:r>
            <a:r>
              <a:rPr sz="1600" dirty="0"/>
              <a:t> </a:t>
            </a:r>
            <a:r>
              <a:rPr sz="1600" dirty="0" err="1"/>
              <a:t>funcionales</a:t>
            </a:r>
            <a:r>
              <a:rPr sz="1600" dirty="0"/>
              <a:t> y no </a:t>
            </a:r>
            <a:r>
              <a:rPr sz="1600" dirty="0" err="1"/>
              <a:t>funcionales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5031166" y="139881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5031166" y="1398810"/>
            <a:ext cx="68580" cy="1874519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5232334" y="1554258"/>
            <a:ext cx="3017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/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2334" y="1993170"/>
            <a:ext cx="24963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 err="1"/>
              <a:t>Analista</a:t>
            </a:r>
            <a:r>
              <a:rPr sz="1600" dirty="0"/>
              <a:t> de </a:t>
            </a:r>
            <a:r>
              <a:rPr sz="1600" dirty="0" err="1"/>
              <a:t>requisitos</a:t>
            </a:r>
            <a:r>
              <a:rPr sz="1600" dirty="0"/>
              <a:t> </a:t>
            </a:r>
            <a:endParaRPr lang="es-MX" sz="1600" dirty="0"/>
          </a:p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/>
              <a:t>usuarios </a:t>
            </a:r>
            <a:endParaRPr lang="es-MX" sz="1600" dirty="0"/>
          </a:p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 err="1"/>
              <a:t>líder</a:t>
            </a:r>
            <a:r>
              <a:rPr sz="1600" dirty="0"/>
              <a:t> del </a:t>
            </a:r>
            <a:r>
              <a:rPr sz="1600" dirty="0" err="1"/>
              <a:t>proyecto</a:t>
            </a:r>
            <a:r>
              <a:rPr sz="1600"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0470" y="3693389"/>
            <a:ext cx="363941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830470" y="3693389"/>
            <a:ext cx="68580" cy="233172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58535" y="3857518"/>
            <a:ext cx="3383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Precondiciones</a:t>
            </a:r>
            <a:r>
              <a:rPr sz="1600" dirty="0"/>
              <a:t> / </a:t>
            </a:r>
            <a:r>
              <a:rPr sz="1600" dirty="0" err="1"/>
              <a:t>postcondiciones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7031638" y="4287749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Antes: </a:t>
            </a:r>
            <a:r>
              <a:rPr lang="es-CO" sz="1600" dirty="0"/>
              <a:t>P</a:t>
            </a:r>
            <a:r>
              <a:rPr sz="1600" dirty="0" err="1"/>
              <a:t>roblema</a:t>
            </a:r>
            <a:r>
              <a:rPr sz="1600" dirty="0"/>
              <a:t>, </a:t>
            </a:r>
            <a:r>
              <a:rPr sz="1600" dirty="0" err="1"/>
              <a:t>público</a:t>
            </a:r>
            <a:r>
              <a:rPr sz="1600" dirty="0"/>
              <a:t> y </a:t>
            </a:r>
            <a:r>
              <a:rPr sz="1600" dirty="0" err="1"/>
              <a:t>objetivos</a:t>
            </a:r>
            <a:r>
              <a:rPr sz="1600" dirty="0"/>
              <a:t> </a:t>
            </a:r>
            <a:r>
              <a:rPr sz="1600" dirty="0" err="1"/>
              <a:t>definidos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 err="1"/>
              <a:t>Después</a:t>
            </a:r>
            <a:r>
              <a:rPr sz="1600" dirty="0"/>
              <a:t>: </a:t>
            </a:r>
            <a:r>
              <a:rPr lang="es-CO" sz="1600" dirty="0"/>
              <a:t>R</a:t>
            </a:r>
            <a:r>
              <a:rPr sz="1600" dirty="0" err="1"/>
              <a:t>equisitos</a:t>
            </a:r>
            <a:r>
              <a:rPr sz="1600" dirty="0"/>
              <a:t> </a:t>
            </a:r>
            <a:r>
              <a:rPr sz="1600" dirty="0" err="1"/>
              <a:t>documentados</a:t>
            </a:r>
            <a:r>
              <a:rPr sz="1600" dirty="0"/>
              <a:t> y </a:t>
            </a:r>
            <a:r>
              <a:rPr sz="1600" dirty="0" err="1"/>
              <a:t>alcance</a:t>
            </a:r>
            <a:r>
              <a:rPr sz="1600" dirty="0"/>
              <a:t> </a:t>
            </a:r>
            <a:r>
              <a:rPr sz="1600" dirty="0" err="1"/>
              <a:t>establecido</a:t>
            </a:r>
            <a:r>
              <a:rPr sz="16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4. </a:t>
            </a:r>
            <a:r>
              <a:rPr dirty="0" err="1">
                <a:latin typeface="+mj-lt"/>
              </a:rPr>
              <a:t>Diseño</a:t>
            </a:r>
            <a:r>
              <a:rPr dirty="0">
                <a:latin typeface="+mj-lt"/>
              </a:rPr>
              <a:t> e </a:t>
            </a:r>
            <a:r>
              <a:rPr dirty="0" err="1">
                <a:latin typeface="+mj-lt"/>
              </a:rPr>
              <a:t>implementación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7240" y="796636"/>
            <a:ext cx="10332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sz="1600" dirty="0" err="1"/>
              <a:t>Convertir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requisitos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solución</a:t>
            </a:r>
            <a:r>
              <a:rPr sz="1600" dirty="0"/>
              <a:t>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240" y="1261872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07240" y="1261872"/>
            <a:ext cx="68580" cy="2148840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08407" y="1417320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dirty="0" err="1"/>
              <a:t>Actividades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08407" y="1856232"/>
            <a:ext cx="306324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Diseñar</a:t>
            </a:r>
            <a:r>
              <a:rPr sz="1600" dirty="0"/>
              <a:t> </a:t>
            </a:r>
            <a:r>
              <a:rPr sz="1600" dirty="0" err="1"/>
              <a:t>interfaz</a:t>
            </a:r>
            <a:r>
              <a:rPr sz="1600" dirty="0"/>
              <a:t> y </a:t>
            </a:r>
            <a:r>
              <a:rPr sz="1600" dirty="0" err="1"/>
              <a:t>navegación</a:t>
            </a:r>
            <a:br>
              <a:rPr sz="1600" dirty="0"/>
            </a:br>
            <a:r>
              <a:rPr sz="1600" dirty="0"/>
              <a:t>• Crear </a:t>
            </a:r>
            <a:r>
              <a:rPr lang="es-MX" sz="1600" dirty="0"/>
              <a:t>l</a:t>
            </a:r>
            <a:r>
              <a:rPr sz="1600" dirty="0"/>
              <a:t>o</a:t>
            </a:r>
            <a:r>
              <a:rPr lang="es-MX" sz="1600" dirty="0"/>
              <a:t>s</a:t>
            </a:r>
            <a:r>
              <a:rPr sz="1600" dirty="0"/>
              <a:t> mockups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Programar</a:t>
            </a:r>
            <a:r>
              <a:rPr sz="1600" dirty="0"/>
              <a:t> </a:t>
            </a:r>
            <a:r>
              <a:rPr sz="1600" dirty="0" err="1"/>
              <a:t>páginas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Integrar</a:t>
            </a:r>
            <a:r>
              <a:rPr sz="1600" dirty="0"/>
              <a:t> </a:t>
            </a:r>
            <a:r>
              <a:rPr sz="1600" dirty="0" err="1"/>
              <a:t>autoevaluación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Incorporar</a:t>
            </a:r>
            <a:r>
              <a:rPr sz="1600" dirty="0"/>
              <a:t> </a:t>
            </a:r>
            <a:r>
              <a:rPr sz="1600" dirty="0" err="1"/>
              <a:t>recursos</a:t>
            </a:r>
            <a:r>
              <a:rPr sz="1600" dirty="0"/>
              <a:t> y rutas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8859" y="3557739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2138859" y="3557739"/>
            <a:ext cx="68580" cy="274320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340027" y="3713187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dirty="0" err="1"/>
              <a:t>Productos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340027" y="4152099"/>
            <a:ext cx="3063240" cy="2062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Diseño</a:t>
            </a:r>
            <a:r>
              <a:rPr sz="1600" dirty="0"/>
              <a:t> de </a:t>
            </a:r>
            <a:r>
              <a:rPr sz="1600" dirty="0" err="1"/>
              <a:t>interfaz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Estructura</a:t>
            </a:r>
            <a:r>
              <a:rPr sz="1600" dirty="0"/>
              <a:t> de </a:t>
            </a:r>
            <a:r>
              <a:rPr sz="1600" dirty="0" err="1"/>
              <a:t>navegación</a:t>
            </a:r>
            <a:br>
              <a:rPr sz="1600" dirty="0"/>
            </a:br>
            <a:r>
              <a:rPr sz="1600" dirty="0"/>
              <a:t>• Mockups</a:t>
            </a:r>
            <a:br>
              <a:rPr sz="1600" dirty="0"/>
            </a:br>
            <a:r>
              <a:rPr sz="1600" dirty="0"/>
              <a:t>• Código </a:t>
            </a:r>
            <a:r>
              <a:rPr sz="1600" dirty="0" err="1"/>
              <a:t>fuente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Páginas</a:t>
            </a:r>
            <a:r>
              <a:rPr sz="1600" dirty="0"/>
              <a:t> web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Autoevaluación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Recursos</a:t>
            </a:r>
            <a:r>
              <a:rPr sz="1600" dirty="0"/>
              <a:t> </a:t>
            </a:r>
            <a:r>
              <a:rPr sz="1600" dirty="0" err="1"/>
              <a:t>educativos</a:t>
            </a:r>
            <a:br>
              <a:rPr sz="1600" dirty="0"/>
            </a:br>
            <a:r>
              <a:rPr sz="1600" dirty="0"/>
              <a:t>• Rutas de atención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361144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754880" y="1361144"/>
            <a:ext cx="68580" cy="1874519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56048" y="1516592"/>
            <a:ext cx="3017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dirty="0"/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1955504"/>
            <a:ext cx="30175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 err="1"/>
              <a:t>Diseñador</a:t>
            </a:r>
            <a:r>
              <a:rPr sz="1600" dirty="0"/>
              <a:t> UI/UX </a:t>
            </a:r>
            <a:endParaRPr lang="es-MX" sz="1600" dirty="0"/>
          </a:p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lang="es-MX" sz="1600" dirty="0"/>
              <a:t>D</a:t>
            </a:r>
            <a:r>
              <a:rPr sz="1600" dirty="0" err="1"/>
              <a:t>esarrollador</a:t>
            </a:r>
            <a:r>
              <a:rPr sz="1600" dirty="0"/>
              <a:t> </a:t>
            </a:r>
            <a:endParaRPr lang="es-MX" sz="1600" dirty="0"/>
          </a:p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lang="es-MX" sz="1600" dirty="0"/>
              <a:t>R</a:t>
            </a:r>
            <a:r>
              <a:rPr sz="1600" dirty="0" err="1"/>
              <a:t>esponsable</a:t>
            </a:r>
            <a:r>
              <a:rPr sz="1600" dirty="0"/>
              <a:t> de </a:t>
            </a:r>
            <a:r>
              <a:rPr sz="1600" dirty="0" err="1"/>
              <a:t>contenidos</a:t>
            </a:r>
            <a:endParaRPr lang="es-CO" sz="1600" dirty="0"/>
          </a:p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 err="1"/>
              <a:t>líder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096000" y="3622338"/>
            <a:ext cx="35844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6096000" y="3622338"/>
            <a:ext cx="68580" cy="233172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297168" y="3777786"/>
            <a:ext cx="3383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dirty="0" err="1"/>
              <a:t>Precondiciones</a:t>
            </a:r>
            <a:r>
              <a:rPr dirty="0"/>
              <a:t> / </a:t>
            </a:r>
            <a:r>
              <a:rPr dirty="0" err="1"/>
              <a:t>postcondiciones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297168" y="4216698"/>
            <a:ext cx="30175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Antes: </a:t>
            </a:r>
            <a:r>
              <a:rPr lang="es-CO" sz="1600" dirty="0"/>
              <a:t>R</a:t>
            </a:r>
            <a:r>
              <a:rPr sz="1600" dirty="0" err="1"/>
              <a:t>equisitos</a:t>
            </a:r>
            <a:r>
              <a:rPr sz="1600" dirty="0"/>
              <a:t> </a:t>
            </a:r>
            <a:r>
              <a:rPr sz="1600" dirty="0" err="1"/>
              <a:t>definidos</a:t>
            </a:r>
            <a:r>
              <a:rPr sz="1600" dirty="0"/>
              <a:t> y </a:t>
            </a:r>
            <a:r>
              <a:rPr sz="1600" dirty="0" err="1"/>
              <a:t>diseño</a:t>
            </a:r>
            <a:r>
              <a:rPr sz="1600" dirty="0"/>
              <a:t> </a:t>
            </a:r>
            <a:r>
              <a:rPr sz="1600" dirty="0" err="1"/>
              <a:t>inicial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 err="1"/>
              <a:t>Después</a:t>
            </a:r>
            <a:r>
              <a:rPr sz="1600" dirty="0"/>
              <a:t>: </a:t>
            </a:r>
            <a:r>
              <a:rPr lang="es-CO" sz="1600" dirty="0"/>
              <a:t>V</a:t>
            </a:r>
            <a:r>
              <a:rPr sz="1600" dirty="0" err="1"/>
              <a:t>ersión</a:t>
            </a:r>
            <a:r>
              <a:rPr sz="1600" dirty="0"/>
              <a:t> </a:t>
            </a:r>
            <a:r>
              <a:rPr sz="1600" dirty="0" err="1"/>
              <a:t>funcional</a:t>
            </a:r>
            <a:r>
              <a:rPr sz="1600" dirty="0"/>
              <a:t> con las </a:t>
            </a:r>
            <a:r>
              <a:rPr sz="1600" dirty="0" err="1"/>
              <a:t>principales</a:t>
            </a:r>
            <a:r>
              <a:rPr sz="1600" dirty="0"/>
              <a:t> </a:t>
            </a:r>
            <a:r>
              <a:rPr sz="1600" dirty="0" err="1"/>
              <a:t>funcionalidades</a:t>
            </a:r>
            <a:r>
              <a:rPr sz="16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5. </a:t>
            </a:r>
            <a:r>
              <a:rPr dirty="0" err="1">
                <a:latin typeface="+mj-lt"/>
              </a:rPr>
              <a:t>Validación</a:t>
            </a:r>
            <a:r>
              <a:rPr dirty="0">
                <a:latin typeface="+mj-lt"/>
              </a:rPr>
              <a:t> y </a:t>
            </a:r>
            <a:r>
              <a:rPr dirty="0" err="1">
                <a:latin typeface="+mj-lt"/>
              </a:rPr>
              <a:t>pruebas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332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sz="1600" dirty="0" err="1"/>
              <a:t>Comprobar</a:t>
            </a:r>
            <a:r>
              <a:rPr sz="1600" dirty="0"/>
              <a:t> que </a:t>
            </a:r>
            <a:r>
              <a:rPr sz="1600" dirty="0" err="1"/>
              <a:t>el</a:t>
            </a:r>
            <a:r>
              <a:rPr sz="1600" dirty="0"/>
              <a:t> sitio </a:t>
            </a:r>
            <a:r>
              <a:rPr sz="1600" dirty="0" err="1"/>
              <a:t>funciona</a:t>
            </a:r>
            <a:r>
              <a:rPr sz="1600" dirty="0"/>
              <a:t> y es </a:t>
            </a:r>
            <a:r>
              <a:rPr lang="es-CO" sz="1600" dirty="0"/>
              <a:t>fácil </a:t>
            </a:r>
            <a:r>
              <a:rPr sz="1600" dirty="0"/>
              <a:t>de usar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2261676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8580" cy="2261676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795527" y="157276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Actividades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795527" y="2011680"/>
            <a:ext cx="306324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Probar</a:t>
            </a:r>
            <a:r>
              <a:rPr sz="1600" dirty="0"/>
              <a:t> </a:t>
            </a:r>
            <a:r>
              <a:rPr sz="1600" dirty="0" err="1"/>
              <a:t>navegación</a:t>
            </a:r>
            <a:r>
              <a:rPr sz="1600" dirty="0"/>
              <a:t> y enlaces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Probar</a:t>
            </a:r>
            <a:r>
              <a:rPr sz="1600" dirty="0"/>
              <a:t> </a:t>
            </a:r>
            <a:r>
              <a:rPr sz="1600" dirty="0" err="1"/>
              <a:t>autoevaluación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Revisar</a:t>
            </a:r>
            <a:r>
              <a:rPr sz="1600" dirty="0"/>
              <a:t> </a:t>
            </a:r>
            <a:r>
              <a:rPr sz="1600" dirty="0" err="1"/>
              <a:t>elementos</a:t>
            </a:r>
            <a:r>
              <a:rPr sz="1600" dirty="0"/>
              <a:t> </a:t>
            </a:r>
            <a:r>
              <a:rPr sz="1600" dirty="0" err="1"/>
              <a:t>interactivos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Detectar</a:t>
            </a:r>
            <a:r>
              <a:rPr sz="1600" dirty="0"/>
              <a:t> </a:t>
            </a:r>
            <a:r>
              <a:rPr sz="1600" dirty="0" err="1"/>
              <a:t>errores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Evaluar</a:t>
            </a:r>
            <a:r>
              <a:rPr sz="1600" dirty="0"/>
              <a:t> </a:t>
            </a:r>
            <a:r>
              <a:rPr sz="1600" dirty="0" err="1"/>
              <a:t>experiencia</a:t>
            </a:r>
            <a:r>
              <a:rPr sz="1600" dirty="0"/>
              <a:t> de </a:t>
            </a:r>
            <a:r>
              <a:rPr sz="1600" dirty="0" err="1"/>
              <a:t>usuario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Corregir</a:t>
            </a:r>
            <a:r>
              <a:rPr sz="1600" dirty="0"/>
              <a:t> </a:t>
            </a:r>
            <a:r>
              <a:rPr sz="1600" dirty="0" err="1"/>
              <a:t>problemas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8580" cy="242316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590288" y="157276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Productos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1917127"/>
            <a:ext cx="306324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Plan de </a:t>
            </a:r>
            <a:r>
              <a:rPr sz="1600" dirty="0" err="1"/>
              <a:t>pruebas</a:t>
            </a:r>
            <a:br>
              <a:rPr sz="1600" dirty="0"/>
            </a:br>
            <a:r>
              <a:rPr sz="1600" dirty="0"/>
              <a:t>• Casos de </a:t>
            </a:r>
            <a:r>
              <a:rPr sz="1600" dirty="0" err="1"/>
              <a:t>prueba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Registro</a:t>
            </a:r>
            <a:r>
              <a:rPr sz="1600" dirty="0"/>
              <a:t> de </a:t>
            </a:r>
            <a:r>
              <a:rPr sz="1600" dirty="0" err="1"/>
              <a:t>errores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Resultados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Correcciones</a:t>
            </a:r>
            <a:br>
              <a:rPr sz="1600" dirty="0"/>
            </a:br>
            <a:r>
              <a:rPr sz="1600" dirty="0"/>
              <a:t>• Informe de </a:t>
            </a:r>
            <a:r>
              <a:rPr sz="1600" dirty="0" err="1"/>
              <a:t>validación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Versión</a:t>
            </a:r>
            <a:r>
              <a:rPr sz="1600" dirty="0"/>
              <a:t> </a:t>
            </a:r>
            <a:r>
              <a:rPr sz="1600" dirty="0" err="1"/>
              <a:t>corregida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5788251" y="4208072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5" name="Rectangle 14"/>
          <p:cNvSpPr/>
          <p:nvPr/>
        </p:nvSpPr>
        <p:spPr>
          <a:xfrm>
            <a:off x="5788251" y="4208072"/>
            <a:ext cx="68580" cy="1874519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5989419" y="4363520"/>
            <a:ext cx="3017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/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419" y="4802432"/>
            <a:ext cx="30175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/>
              <a:t>Tester </a:t>
            </a:r>
            <a:endParaRPr lang="es-CO" sz="1600" dirty="0"/>
          </a:p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D</a:t>
            </a:r>
            <a:r>
              <a:rPr sz="1600" dirty="0" err="1"/>
              <a:t>esarrollador</a:t>
            </a:r>
            <a:endParaRPr lang="es-CO" sz="1600" dirty="0"/>
          </a:p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U</a:t>
            </a:r>
            <a:r>
              <a:rPr sz="1600" dirty="0" err="1"/>
              <a:t>suarios</a:t>
            </a:r>
            <a:r>
              <a:rPr sz="1600" dirty="0"/>
              <a:t> </a:t>
            </a:r>
            <a:r>
              <a:rPr sz="1600" dirty="0" err="1"/>
              <a:t>evaluadores</a:t>
            </a:r>
            <a:r>
              <a:rPr sz="1600" dirty="0"/>
              <a:t> </a:t>
            </a:r>
            <a:endParaRPr lang="es-CO" sz="1600" dirty="0"/>
          </a:p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L</a:t>
            </a:r>
            <a:r>
              <a:rPr sz="1600" dirty="0" err="1"/>
              <a:t>íder</a:t>
            </a:r>
            <a:endParaRPr sz="1600" dirty="0"/>
          </a:p>
        </p:txBody>
      </p:sp>
      <p:sp>
        <p:nvSpPr>
          <p:cNvPr id="18" name="Rounded Rectangle 17"/>
          <p:cNvSpPr/>
          <p:nvPr/>
        </p:nvSpPr>
        <p:spPr>
          <a:xfrm>
            <a:off x="1806186" y="3933531"/>
            <a:ext cx="358444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9" name="Rectangle 18"/>
          <p:cNvSpPr/>
          <p:nvPr/>
        </p:nvSpPr>
        <p:spPr>
          <a:xfrm>
            <a:off x="1806186" y="3933531"/>
            <a:ext cx="68580" cy="233172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1973064" y="4088979"/>
            <a:ext cx="3383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Precondiciones</a:t>
            </a:r>
            <a:r>
              <a:rPr sz="1600" dirty="0"/>
              <a:t> / </a:t>
            </a:r>
            <a:r>
              <a:rPr sz="1600" dirty="0" err="1"/>
              <a:t>postcondiciones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07354" y="4527891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Antes: </a:t>
            </a:r>
            <a:r>
              <a:rPr lang="es-CO" sz="1600" dirty="0"/>
              <a:t>V</a:t>
            </a:r>
            <a:r>
              <a:rPr sz="1600" dirty="0" err="1"/>
              <a:t>ersión</a:t>
            </a:r>
            <a:r>
              <a:rPr sz="1600" dirty="0"/>
              <a:t> </a:t>
            </a:r>
            <a:r>
              <a:rPr sz="1600" dirty="0" err="1"/>
              <a:t>funcional</a:t>
            </a:r>
            <a:r>
              <a:rPr sz="1600" dirty="0"/>
              <a:t> y </a:t>
            </a:r>
            <a:r>
              <a:rPr sz="1600" dirty="0" err="1"/>
              <a:t>requisitos</a:t>
            </a:r>
            <a:r>
              <a:rPr sz="1600" dirty="0"/>
              <a:t> </a:t>
            </a:r>
            <a:r>
              <a:rPr sz="1600" dirty="0" err="1"/>
              <a:t>disponibles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 err="1"/>
              <a:t>Después</a:t>
            </a:r>
            <a:r>
              <a:rPr sz="1600" dirty="0"/>
              <a:t>: </a:t>
            </a:r>
            <a:r>
              <a:rPr lang="es-CO" sz="1600" dirty="0"/>
              <a:t>E</a:t>
            </a:r>
            <a:r>
              <a:rPr sz="1600" dirty="0" err="1"/>
              <a:t>rrores</a:t>
            </a:r>
            <a:r>
              <a:rPr sz="1600" dirty="0"/>
              <a:t> </a:t>
            </a:r>
            <a:r>
              <a:rPr sz="1600" dirty="0" err="1"/>
              <a:t>identificados</a:t>
            </a:r>
            <a:r>
              <a:rPr sz="1600" dirty="0"/>
              <a:t>/</a:t>
            </a:r>
            <a:r>
              <a:rPr sz="1600" dirty="0" err="1"/>
              <a:t>corregidos</a:t>
            </a:r>
            <a:r>
              <a:rPr sz="1600" dirty="0"/>
              <a:t> y </a:t>
            </a:r>
            <a:r>
              <a:rPr sz="1600" dirty="0" err="1"/>
              <a:t>sistema</a:t>
            </a:r>
            <a:r>
              <a:rPr sz="1600" dirty="0"/>
              <a:t> </a:t>
            </a:r>
            <a:r>
              <a:rPr sz="1600" dirty="0" err="1"/>
              <a:t>validado</a:t>
            </a:r>
            <a:r>
              <a:rPr sz="16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6. </a:t>
            </a:r>
            <a:r>
              <a:rPr dirty="0" err="1">
                <a:latin typeface="+mj-lt"/>
              </a:rPr>
              <a:t>Evolución</a:t>
            </a:r>
            <a:r>
              <a:rPr dirty="0">
                <a:latin typeface="+mj-lt"/>
              </a:rPr>
              <a:t> y </a:t>
            </a:r>
            <a:r>
              <a:rPr dirty="0" err="1">
                <a:latin typeface="+mj-lt"/>
              </a:rPr>
              <a:t>mantenimiento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332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sz="1600" dirty="0" err="1"/>
              <a:t>Mantener</a:t>
            </a:r>
            <a:r>
              <a:rPr sz="1600" dirty="0"/>
              <a:t> la </a:t>
            </a:r>
            <a:r>
              <a:rPr sz="1600" dirty="0" err="1"/>
              <a:t>plataforma</a:t>
            </a:r>
            <a:r>
              <a:rPr sz="1600" dirty="0"/>
              <a:t> </a:t>
            </a:r>
            <a:r>
              <a:rPr sz="1600" dirty="0" err="1"/>
              <a:t>actualizada</a:t>
            </a:r>
            <a:r>
              <a:rPr sz="1600" dirty="0"/>
              <a:t> y </a:t>
            </a:r>
            <a:r>
              <a:rPr sz="1600" dirty="0" err="1"/>
              <a:t>funcional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2560321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8580" cy="2560321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57276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Actividades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306324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Actualizar</a:t>
            </a:r>
            <a:r>
              <a:rPr sz="1600" dirty="0"/>
              <a:t> </a:t>
            </a:r>
            <a:r>
              <a:rPr sz="1600" dirty="0" err="1"/>
              <a:t>información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Revisar</a:t>
            </a:r>
            <a:r>
              <a:rPr sz="1600" dirty="0"/>
              <a:t> rutas de atención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Actualizar</a:t>
            </a:r>
            <a:r>
              <a:rPr sz="1600" dirty="0"/>
              <a:t> </a:t>
            </a:r>
            <a:r>
              <a:rPr sz="1600" dirty="0" err="1"/>
              <a:t>recursos</a:t>
            </a:r>
            <a:r>
              <a:rPr sz="1600" dirty="0"/>
              <a:t> </a:t>
            </a:r>
            <a:r>
              <a:rPr sz="1600" dirty="0" err="1"/>
              <a:t>educativos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Corregir</a:t>
            </a:r>
            <a:r>
              <a:rPr sz="1600" dirty="0"/>
              <a:t> </a:t>
            </a:r>
            <a:r>
              <a:rPr sz="1600" dirty="0" err="1"/>
              <a:t>errores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Mejorar</a:t>
            </a:r>
            <a:r>
              <a:rPr sz="1600" dirty="0"/>
              <a:t> </a:t>
            </a:r>
            <a:r>
              <a:rPr sz="1600" dirty="0" err="1"/>
              <a:t>interfaz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Revisar</a:t>
            </a:r>
            <a:r>
              <a:rPr sz="1600" dirty="0"/>
              <a:t> </a:t>
            </a:r>
            <a:r>
              <a:rPr sz="1600" dirty="0" err="1"/>
              <a:t>seguridad</a:t>
            </a:r>
            <a:r>
              <a:rPr sz="1600" dirty="0"/>
              <a:t> y </a:t>
            </a:r>
            <a:r>
              <a:rPr sz="1600" dirty="0" err="1"/>
              <a:t>confidencialidad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2295144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8580" cy="2295144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90288" y="157276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Productos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2011680"/>
            <a:ext cx="306324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Nuevas</a:t>
            </a:r>
            <a:r>
              <a:rPr sz="1600" dirty="0"/>
              <a:t> </a:t>
            </a:r>
            <a:r>
              <a:rPr sz="1600" dirty="0" err="1"/>
              <a:t>versiones</a:t>
            </a:r>
            <a:br>
              <a:rPr sz="1600" dirty="0"/>
            </a:br>
            <a:r>
              <a:rPr sz="1600" dirty="0"/>
              <a:t>• Contenido </a:t>
            </a:r>
            <a:r>
              <a:rPr sz="1600" dirty="0" err="1"/>
              <a:t>actualizado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Correcciones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Mejoras</a:t>
            </a:r>
            <a:r>
              <a:rPr sz="1600" dirty="0"/>
              <a:t> de </a:t>
            </a:r>
            <a:r>
              <a:rPr sz="1600" dirty="0" err="1"/>
              <a:t>interfaz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Actualizaciones</a:t>
            </a:r>
            <a:r>
              <a:rPr sz="1600" dirty="0"/>
              <a:t> de </a:t>
            </a:r>
            <a:r>
              <a:rPr sz="1600" dirty="0" err="1"/>
              <a:t>seguridad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Informes</a:t>
            </a:r>
            <a:r>
              <a:rPr sz="1600" dirty="0"/>
              <a:t> de </a:t>
            </a:r>
            <a:r>
              <a:rPr sz="1600" dirty="0" err="1"/>
              <a:t>mantenimiento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8132065" y="1632091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132065" y="1632091"/>
            <a:ext cx="68580" cy="1874519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333233" y="1787539"/>
            <a:ext cx="3017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/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7138" y="2128309"/>
            <a:ext cx="30175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 err="1"/>
              <a:t>Desarrollador</a:t>
            </a:r>
            <a:r>
              <a:rPr sz="1600" dirty="0"/>
              <a:t> </a:t>
            </a:r>
            <a:endParaRPr lang="es-CO" sz="1600" dirty="0"/>
          </a:p>
          <a:p>
            <a:pPr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contenidos</a:t>
            </a:r>
            <a:r>
              <a:rPr sz="1600" dirty="0"/>
              <a:t> </a:t>
            </a:r>
            <a:endParaRPr lang="es-CO" sz="1600" dirty="0"/>
          </a:p>
          <a:p>
            <a:pPr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/>
              <a:t>tester </a:t>
            </a:r>
            <a:endParaRPr lang="es-CO" sz="1600" dirty="0"/>
          </a:p>
          <a:p>
            <a:pPr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/>
              <a:t>usuarios </a:t>
            </a:r>
            <a:endParaRPr lang="es-CO" sz="1600" dirty="0"/>
          </a:p>
          <a:p>
            <a:pPr>
              <a:defRPr sz="1200" b="0">
                <a:solidFill>
                  <a:srgbClr val="30393F"/>
                </a:solidFill>
                <a:latin typeface="Aptos"/>
              </a:defRPr>
            </a:pPr>
            <a:r>
              <a:rPr lang="es-CO" sz="1600" dirty="0"/>
              <a:t>• </a:t>
            </a:r>
            <a:r>
              <a:rPr sz="1600" dirty="0" err="1"/>
              <a:t>líder</a:t>
            </a:r>
            <a:r>
              <a:rPr sz="1600"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9622" y="4022379"/>
            <a:ext cx="3847117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359623" y="4022379"/>
            <a:ext cx="68580" cy="2331720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560791" y="4177827"/>
            <a:ext cx="339375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1600" dirty="0" err="1"/>
              <a:t>Precondiciones</a:t>
            </a:r>
            <a:r>
              <a:rPr sz="1600" dirty="0"/>
              <a:t> / </a:t>
            </a:r>
            <a:r>
              <a:rPr sz="1600" dirty="0" err="1"/>
              <a:t>postcondiciones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0" y="4562101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0393F"/>
                </a:solidFill>
                <a:latin typeface="Aptos"/>
              </a:defRPr>
            </a:pPr>
            <a:r>
              <a:rPr sz="1600" dirty="0"/>
              <a:t>Antes: </a:t>
            </a:r>
            <a:r>
              <a:rPr lang="es-CO" sz="1600" dirty="0"/>
              <a:t>S</a:t>
            </a:r>
            <a:r>
              <a:rPr sz="1600" dirty="0" err="1"/>
              <a:t>istema</a:t>
            </a:r>
            <a:r>
              <a:rPr sz="1600" dirty="0"/>
              <a:t> </a:t>
            </a:r>
            <a:r>
              <a:rPr sz="1600" dirty="0" err="1"/>
              <a:t>funcional</a:t>
            </a:r>
            <a:r>
              <a:rPr sz="1600" dirty="0"/>
              <a:t> y </a:t>
            </a:r>
            <a:r>
              <a:rPr sz="1600" dirty="0" err="1"/>
              <a:t>necesidad</a:t>
            </a:r>
            <a:r>
              <a:rPr sz="1600" dirty="0"/>
              <a:t> de </a:t>
            </a:r>
            <a:r>
              <a:rPr sz="1600" dirty="0" err="1"/>
              <a:t>mejora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 err="1"/>
              <a:t>Después</a:t>
            </a:r>
            <a:r>
              <a:rPr sz="1600" dirty="0"/>
              <a:t>: </a:t>
            </a:r>
            <a:r>
              <a:rPr lang="es-CO" sz="1600" dirty="0"/>
              <a:t>I</a:t>
            </a:r>
            <a:r>
              <a:rPr sz="1600" dirty="0" err="1"/>
              <a:t>nformación</a:t>
            </a:r>
            <a:r>
              <a:rPr sz="1600" dirty="0"/>
              <a:t> </a:t>
            </a:r>
            <a:r>
              <a:rPr sz="1600" dirty="0" err="1"/>
              <a:t>actualizada</a:t>
            </a:r>
            <a:r>
              <a:rPr sz="1600" dirty="0"/>
              <a:t> y </a:t>
            </a:r>
            <a:r>
              <a:rPr sz="1600" dirty="0" err="1"/>
              <a:t>nueva</a:t>
            </a:r>
            <a:r>
              <a:rPr sz="1600" dirty="0"/>
              <a:t> </a:t>
            </a:r>
            <a:r>
              <a:rPr sz="1600" dirty="0" err="1"/>
              <a:t>versión</a:t>
            </a:r>
            <a:r>
              <a:rPr sz="1600" dirty="0"/>
              <a:t> o </a:t>
            </a:r>
            <a:r>
              <a:rPr sz="1600" dirty="0" err="1"/>
              <a:t>corrección</a:t>
            </a:r>
            <a:r>
              <a:rPr sz="1600"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7. Roles y </a:t>
            </a:r>
            <a:r>
              <a:rPr dirty="0" err="1">
                <a:latin typeface="+mj-lt"/>
              </a:rPr>
              <a:t>responsabilidades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041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distribución</a:t>
            </a:r>
            <a:r>
              <a:rPr dirty="0"/>
              <a:t> para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integrantes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8136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64008" cy="786384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648228"/>
            <a:ext cx="228600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E3949"/>
                </a:solidFill>
                <a:latin typeface="Aptos"/>
              </a:defRPr>
            </a:pPr>
            <a:r>
              <a:rPr lang="es-CO"/>
              <a:t>Santiago Valle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337560" y="1655922"/>
            <a:ext cx="265176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D918C"/>
                </a:solidFill>
                <a:latin typeface="Aptos"/>
              </a:defRPr>
            </a:pPr>
            <a:r>
              <a:rPr dirty="0" err="1"/>
              <a:t>Líder</a:t>
            </a:r>
            <a:r>
              <a:rPr dirty="0"/>
              <a:t> del </a:t>
            </a:r>
            <a:r>
              <a:rPr dirty="0" err="1"/>
              <a:t>proyecto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126480" y="1673381"/>
            <a:ext cx="50749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30393F"/>
                </a:solidFill>
                <a:latin typeface="Aptos"/>
              </a:defRPr>
            </a:pPr>
            <a:r>
              <a:rPr dirty="0" err="1"/>
              <a:t>Coordinar</a:t>
            </a:r>
            <a:r>
              <a:rPr dirty="0"/>
              <a:t> </a:t>
            </a:r>
            <a:r>
              <a:rPr dirty="0" err="1"/>
              <a:t>actividades</a:t>
            </a:r>
            <a:r>
              <a:rPr dirty="0"/>
              <a:t> y </a:t>
            </a:r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avances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1088136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58368" y="2331720"/>
            <a:ext cx="64008" cy="786384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32688" y="2573632"/>
            <a:ext cx="22860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E3949"/>
                </a:solidFill>
                <a:latin typeface="Aptos"/>
              </a:defRPr>
            </a:pPr>
            <a:r>
              <a:rPr lang="es-CO" dirty="0"/>
              <a:t>Víctor Mendoza</a:t>
            </a:r>
          </a:p>
          <a:p>
            <a:pPr algn="l">
              <a:defRPr sz="1350" b="1">
                <a:solidFill>
                  <a:srgbClr val="1E3949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79"/>
            <a:ext cx="265176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E28B46"/>
                </a:solidFill>
                <a:latin typeface="Aptos"/>
              </a:defRPr>
            </a:pPr>
            <a:r>
              <a:rPr dirty="0" err="1"/>
              <a:t>Analista</a:t>
            </a:r>
            <a:r>
              <a:rPr dirty="0"/>
              <a:t> de </a:t>
            </a:r>
            <a:r>
              <a:rPr dirty="0" err="1"/>
              <a:t>requisitos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126480" y="2450591"/>
            <a:ext cx="50749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30393F"/>
                </a:solidFill>
                <a:latin typeface="Aptos"/>
              </a:defRPr>
            </a:pP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necesidades</a:t>
            </a:r>
            <a:r>
              <a:rPr dirty="0"/>
              <a:t>, </a:t>
            </a:r>
            <a:r>
              <a:rPr dirty="0" err="1"/>
              <a:t>requisitos</a:t>
            </a:r>
            <a:r>
              <a:rPr dirty="0"/>
              <a:t> y </a:t>
            </a:r>
            <a:r>
              <a:rPr dirty="0" err="1"/>
              <a:t>funcionalidades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46120"/>
            <a:ext cx="1088136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58368" y="3246120"/>
            <a:ext cx="64008" cy="786384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32688" y="3459880"/>
            <a:ext cx="22860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E3949"/>
                </a:solidFill>
                <a:latin typeface="Aptos"/>
              </a:defRPr>
            </a:pPr>
            <a:r>
              <a:rPr lang="es-CO" dirty="0"/>
              <a:t>Mike Garzón</a:t>
            </a:r>
          </a:p>
          <a:p>
            <a:pPr algn="l">
              <a:defRPr sz="1350" b="1">
                <a:solidFill>
                  <a:srgbClr val="1E3949"/>
                </a:solidFill>
                <a:latin typeface="Aptos"/>
              </a:defRPr>
            </a:pP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79"/>
            <a:ext cx="265176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D918C"/>
                </a:solidFill>
                <a:latin typeface="Aptos"/>
              </a:defRPr>
            </a:pPr>
            <a:r>
              <a:rPr dirty="0" err="1"/>
              <a:t>Diseñador</a:t>
            </a:r>
            <a:r>
              <a:rPr dirty="0"/>
              <a:t> UI/UX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64991"/>
            <a:ext cx="50749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30393F"/>
                </a:solidFill>
                <a:latin typeface="Aptos"/>
              </a:defRPr>
            </a:pPr>
            <a:r>
              <a:rPr dirty="0" err="1"/>
              <a:t>Diseñar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, </a:t>
            </a:r>
            <a:r>
              <a:rPr dirty="0" err="1"/>
              <a:t>navegación</a:t>
            </a:r>
            <a:r>
              <a:rPr dirty="0"/>
              <a:t> y </a:t>
            </a:r>
            <a:r>
              <a:rPr dirty="0" err="1"/>
              <a:t>experiencia</a:t>
            </a:r>
            <a:r>
              <a:rPr dirty="0"/>
              <a:t> de </a:t>
            </a:r>
            <a:r>
              <a:rPr dirty="0" err="1"/>
              <a:t>usuario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1088136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64008" cy="786384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86968" y="4363358"/>
            <a:ext cx="22860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E3949"/>
                </a:solidFill>
                <a:latin typeface="Aptos"/>
              </a:defRPr>
            </a:pPr>
            <a:r>
              <a:rPr lang="es-CO" dirty="0"/>
              <a:t>Santiago Cuartas</a:t>
            </a:r>
          </a:p>
          <a:p>
            <a:pPr algn="l">
              <a:defRPr sz="1350" b="1">
                <a:solidFill>
                  <a:srgbClr val="1E3949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3337560" y="4297680"/>
            <a:ext cx="265176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E28B46"/>
                </a:solidFill>
                <a:latin typeface="Aptos"/>
              </a:defRPr>
            </a:pPr>
            <a:r>
              <a:rPr dirty="0" err="1"/>
              <a:t>Desarrollador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126480" y="4279392"/>
            <a:ext cx="50749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30393F"/>
                </a:solidFill>
                <a:latin typeface="Aptos"/>
              </a:defRPr>
            </a:pPr>
            <a:r>
              <a:rPr dirty="0" err="1"/>
              <a:t>Programar</a:t>
            </a:r>
            <a:r>
              <a:rPr dirty="0"/>
              <a:t> e </a:t>
            </a:r>
            <a:r>
              <a:rPr dirty="0" err="1"/>
              <a:t>integrar</a:t>
            </a:r>
            <a:r>
              <a:rPr dirty="0"/>
              <a:t> las </a:t>
            </a:r>
            <a:r>
              <a:rPr dirty="0" err="1"/>
              <a:t>funcionalidades</a:t>
            </a:r>
            <a:r>
              <a:rPr dirty="0"/>
              <a:t> del sitio.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74920"/>
            <a:ext cx="1088136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658368" y="5074920"/>
            <a:ext cx="64008" cy="786384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32688" y="5323924"/>
            <a:ext cx="242316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E3949"/>
                </a:solidFill>
                <a:latin typeface="Aptos"/>
              </a:defRPr>
            </a:pPr>
            <a:r>
              <a:rPr lang="es-CO" dirty="0"/>
              <a:t>Julián Sogamoso</a:t>
            </a:r>
          </a:p>
          <a:p>
            <a:pPr algn="l">
              <a:defRPr sz="1350" b="1">
                <a:solidFill>
                  <a:srgbClr val="1E3949"/>
                </a:solidFill>
                <a:latin typeface="Aptos"/>
              </a:defRPr>
            </a:pP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3337560" y="5212080"/>
            <a:ext cx="265176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D918C"/>
                </a:solidFill>
                <a:latin typeface="Aptos"/>
              </a:defRPr>
            </a:pPr>
            <a:r>
              <a:rPr dirty="0"/>
              <a:t>Tester / </a:t>
            </a:r>
            <a:r>
              <a:rPr dirty="0" err="1"/>
              <a:t>documentación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126480" y="5193792"/>
            <a:ext cx="50749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30393F"/>
                </a:solidFill>
                <a:latin typeface="Aptos"/>
              </a:defRPr>
            </a:pP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apoyar</a:t>
            </a:r>
            <a:r>
              <a:rPr dirty="0"/>
              <a:t> la </a:t>
            </a:r>
            <a:r>
              <a:rPr dirty="0" err="1"/>
              <a:t>documentación</a:t>
            </a:r>
            <a:r>
              <a:rPr dirty="0"/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6F76"/>
                </a:solidFill>
                <a:latin typeface="Aptos"/>
              </a:defRPr>
            </a:pPr>
            <a:r>
              <a:rPr dirty="0"/>
              <a:t>Nota: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organización</a:t>
            </a:r>
            <a:r>
              <a:rPr dirty="0"/>
              <a:t>. El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identifica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integrantes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formalmente</a:t>
            </a:r>
            <a:r>
              <a:rPr dirty="0"/>
              <a:t> </a:t>
            </a:r>
            <a:r>
              <a:rPr dirty="0" err="1"/>
              <a:t>estos</a:t>
            </a:r>
            <a:r>
              <a:rPr dirty="0"/>
              <a:t> roles.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8. </a:t>
            </a:r>
            <a:r>
              <a:rPr dirty="0" err="1">
                <a:latin typeface="+mj-lt"/>
              </a:rPr>
              <a:t>Clasificación</a:t>
            </a:r>
            <a:r>
              <a:rPr dirty="0">
                <a:latin typeface="+mj-lt"/>
              </a:rPr>
              <a:t> de la </a:t>
            </a:r>
            <a:r>
              <a:rPr dirty="0" err="1">
                <a:latin typeface="+mj-lt"/>
              </a:rPr>
              <a:t>aplicación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dirty="0" err="1"/>
              <a:t>Según</a:t>
            </a:r>
            <a:r>
              <a:rPr dirty="0"/>
              <a:t> sus </a:t>
            </a:r>
            <a:r>
              <a:rPr dirty="0" err="1"/>
              <a:t>características</a:t>
            </a:r>
            <a:r>
              <a:rPr dirty="0"/>
              <a:t> y </a:t>
            </a:r>
            <a:r>
              <a:rPr dirty="0" err="1"/>
              <a:t>finalidad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29000" cy="2666508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68580" cy="266650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618488"/>
            <a:ext cx="30632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2000" dirty="0" err="1"/>
              <a:t>Aplicación</a:t>
            </a:r>
            <a:r>
              <a:rPr sz="2000" dirty="0"/>
              <a:t>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306324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2000" dirty="0"/>
              <a:t>Se accede </a:t>
            </a:r>
            <a:r>
              <a:rPr sz="2000" dirty="0" err="1"/>
              <a:t>mediante</a:t>
            </a:r>
            <a:r>
              <a:rPr sz="2000" dirty="0"/>
              <a:t> Internet. La </a:t>
            </a:r>
            <a:r>
              <a:rPr sz="2000" dirty="0" err="1"/>
              <a:t>implementación</a:t>
            </a:r>
            <a:r>
              <a:rPr sz="2000" dirty="0"/>
              <a:t> </a:t>
            </a:r>
            <a:r>
              <a:rPr sz="2000" dirty="0" err="1"/>
              <a:t>inicial</a:t>
            </a:r>
            <a:r>
              <a:rPr sz="2000" dirty="0"/>
              <a:t> se </a:t>
            </a:r>
            <a:r>
              <a:rPr sz="2000" dirty="0" err="1"/>
              <a:t>plantea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Bogotá y </a:t>
            </a:r>
            <a:r>
              <a:rPr sz="2000" dirty="0" err="1"/>
              <a:t>puede</a:t>
            </a:r>
            <a:r>
              <a:rPr sz="2000" dirty="0"/>
              <a:t> </a:t>
            </a:r>
            <a:r>
              <a:rPr sz="2000" dirty="0" err="1"/>
              <a:t>ampliar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alcance</a:t>
            </a:r>
            <a:r>
              <a:rPr sz="20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29000" cy="2666508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68580" cy="2666508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590288" y="1618488"/>
            <a:ext cx="30632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2000" dirty="0" err="1"/>
              <a:t>Aplicación</a:t>
            </a:r>
            <a:r>
              <a:rPr sz="2000" dirty="0"/>
              <a:t> </a:t>
            </a:r>
            <a:r>
              <a:rPr sz="2000" dirty="0" err="1"/>
              <a:t>interactiva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2057400"/>
            <a:ext cx="306324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2000" dirty="0"/>
              <a:t>El </a:t>
            </a:r>
            <a:r>
              <a:rPr sz="2000" dirty="0" err="1"/>
              <a:t>usuario</a:t>
            </a:r>
            <a:r>
              <a:rPr sz="2000" dirty="0"/>
              <a:t> no solo consulta </a:t>
            </a:r>
            <a:r>
              <a:rPr sz="2000" dirty="0" err="1"/>
              <a:t>información</a:t>
            </a:r>
            <a:r>
              <a:rPr sz="2000" dirty="0"/>
              <a:t>: </a:t>
            </a:r>
            <a:r>
              <a:rPr sz="2000" dirty="0" err="1"/>
              <a:t>también</a:t>
            </a:r>
            <a:r>
              <a:rPr sz="2000" dirty="0"/>
              <a:t> </a:t>
            </a:r>
            <a:r>
              <a:rPr sz="2000" dirty="0" err="1"/>
              <a:t>interactúa</a:t>
            </a:r>
            <a:r>
              <a:rPr sz="2000" dirty="0"/>
              <a:t> con </a:t>
            </a:r>
            <a:r>
              <a:rPr sz="2000" dirty="0" err="1"/>
              <a:t>herramientas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la </a:t>
            </a:r>
            <a:r>
              <a:rPr sz="2000" dirty="0" err="1"/>
              <a:t>autoevaluación</a:t>
            </a:r>
            <a:r>
              <a:rPr sz="20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383280" cy="2666508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68580" cy="266650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8339328" y="1618488"/>
            <a:ext cx="30175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2000" dirty="0"/>
              <a:t>Orientación y </a:t>
            </a:r>
            <a:r>
              <a:rPr sz="2000" dirty="0" err="1"/>
              <a:t>prevención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355330" y="2338664"/>
            <a:ext cx="30175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2000" dirty="0" err="1"/>
              <a:t>Ofrece</a:t>
            </a:r>
            <a:r>
              <a:rPr sz="2000" dirty="0"/>
              <a:t> </a:t>
            </a:r>
            <a:r>
              <a:rPr sz="2000" dirty="0" err="1"/>
              <a:t>información</a:t>
            </a:r>
            <a:r>
              <a:rPr sz="2000" dirty="0"/>
              <a:t>, </a:t>
            </a:r>
            <a:r>
              <a:rPr sz="2000" dirty="0" err="1"/>
              <a:t>recursos</a:t>
            </a:r>
            <a:r>
              <a:rPr sz="2000" dirty="0"/>
              <a:t> </a:t>
            </a:r>
            <a:r>
              <a:rPr sz="2000" dirty="0" err="1"/>
              <a:t>educativos</a:t>
            </a:r>
            <a:r>
              <a:rPr sz="2000" dirty="0"/>
              <a:t>, </a:t>
            </a:r>
            <a:r>
              <a:rPr sz="2000" dirty="0" err="1"/>
              <a:t>acompañamiento</a:t>
            </a:r>
            <a:r>
              <a:rPr sz="2000" dirty="0"/>
              <a:t> digital y rutas de atención.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833872"/>
            <a:ext cx="9784080" cy="438912"/>
          </a:xfrm>
          <a:prstGeom prst="roundRect">
            <a:avLst/>
          </a:prstGeom>
          <a:solidFill>
            <a:srgbClr val="1E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412748" y="5899439"/>
            <a:ext cx="9418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rPr sz="1400" dirty="0" err="1"/>
              <a:t>Clasificación</a:t>
            </a:r>
            <a:r>
              <a:rPr sz="1400" dirty="0"/>
              <a:t>: </a:t>
            </a:r>
            <a:r>
              <a:rPr lang="es-CO" sz="1400" dirty="0"/>
              <a:t>Pagina</a:t>
            </a:r>
            <a:r>
              <a:rPr sz="1400" dirty="0"/>
              <a:t> web </a:t>
            </a:r>
            <a:r>
              <a:rPr sz="1400" dirty="0" err="1"/>
              <a:t>interactiva</a:t>
            </a:r>
            <a:r>
              <a:rPr sz="1400" dirty="0"/>
              <a:t> de </a:t>
            </a:r>
            <a:r>
              <a:rPr sz="1400" dirty="0" err="1"/>
              <a:t>información</a:t>
            </a:r>
            <a:r>
              <a:rPr sz="1400" dirty="0"/>
              <a:t>, </a:t>
            </a:r>
            <a:r>
              <a:rPr sz="1400" dirty="0" err="1"/>
              <a:t>prevención</a:t>
            </a:r>
            <a:r>
              <a:rPr sz="1400" dirty="0"/>
              <a:t>, orientación y </a:t>
            </a:r>
            <a:r>
              <a:rPr sz="1400" dirty="0" err="1"/>
              <a:t>acompañamiento</a:t>
            </a:r>
            <a:r>
              <a:rPr sz="1400" dirty="0"/>
              <a:t> digital.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E3949"/>
                </a:solidFill>
                <a:latin typeface="Aptos"/>
              </a:defRPr>
            </a:pPr>
            <a:r>
              <a:rPr dirty="0">
                <a:latin typeface="+mj-lt"/>
              </a:rPr>
              <a:t>9. </a:t>
            </a:r>
            <a:r>
              <a:rPr dirty="0" err="1">
                <a:latin typeface="+mj-lt"/>
              </a:rPr>
              <a:t>Conclusión</a:t>
            </a:r>
            <a:endParaRPr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646F76"/>
                </a:solidFill>
                <a:latin typeface="Aptos"/>
              </a:defRPr>
            </a:pPr>
            <a:r>
              <a:rPr dirty="0" err="1"/>
              <a:t>Resultado</a:t>
            </a:r>
            <a:r>
              <a:rPr dirty="0"/>
              <a:t> del </a:t>
            </a:r>
            <a:r>
              <a:rPr dirty="0" err="1"/>
              <a:t>análisis</a:t>
            </a:r>
            <a:r>
              <a:rPr dirty="0"/>
              <a:t> del </a:t>
            </a:r>
            <a:r>
              <a:rPr dirty="0" err="1"/>
              <a:t>proyecto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3931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6F76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2601812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8580" cy="2601812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86968" y="1664207"/>
            <a:ext cx="2971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2000" dirty="0"/>
              <a:t>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03120"/>
            <a:ext cx="297180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2000" dirty="0"/>
              <a:t>IAPOYO </a:t>
            </a:r>
            <a:r>
              <a:rPr sz="2000" dirty="0" err="1"/>
              <a:t>puede</a:t>
            </a:r>
            <a:r>
              <a:rPr sz="2000" dirty="0"/>
              <a:t> </a:t>
            </a:r>
            <a:r>
              <a:rPr sz="2000" dirty="0" err="1"/>
              <a:t>organizarse</a:t>
            </a:r>
            <a:r>
              <a:rPr sz="2000" dirty="0"/>
              <a:t> </a:t>
            </a:r>
            <a:r>
              <a:rPr sz="2000" dirty="0" err="1"/>
              <a:t>mediante</a:t>
            </a:r>
            <a:r>
              <a:rPr sz="2000" dirty="0"/>
              <a:t> </a:t>
            </a:r>
            <a:r>
              <a:rPr sz="2000" dirty="0" err="1"/>
              <a:t>especificación</a:t>
            </a:r>
            <a:r>
              <a:rPr sz="2000" dirty="0"/>
              <a:t>, </a:t>
            </a:r>
            <a:r>
              <a:rPr sz="2000" dirty="0" err="1"/>
              <a:t>diseño</a:t>
            </a:r>
            <a:r>
              <a:rPr sz="2000" dirty="0"/>
              <a:t> e </a:t>
            </a:r>
            <a:r>
              <a:rPr sz="2000" dirty="0" err="1"/>
              <a:t>implementación</a:t>
            </a:r>
            <a:r>
              <a:rPr sz="2000" dirty="0"/>
              <a:t>, </a:t>
            </a:r>
            <a:r>
              <a:rPr sz="2000" dirty="0" err="1"/>
              <a:t>validación</a:t>
            </a:r>
            <a:r>
              <a:rPr sz="2000" dirty="0"/>
              <a:t> y </a:t>
            </a:r>
            <a:r>
              <a:rPr sz="2000" dirty="0" err="1"/>
              <a:t>evolución</a:t>
            </a:r>
            <a:r>
              <a:rPr sz="20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2601812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68580" cy="2601812"/>
          </a:xfrm>
          <a:prstGeom prst="rect">
            <a:avLst/>
          </a:prstGeom>
          <a:solidFill>
            <a:srgbClr val="E28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636007" y="1664207"/>
            <a:ext cx="2971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2000" dirty="0" err="1"/>
              <a:t>Equipo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636007" y="2103120"/>
            <a:ext cx="297180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2000" dirty="0"/>
              <a:t>Definir roles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repartir</a:t>
            </a:r>
            <a:r>
              <a:rPr sz="2000" dirty="0"/>
              <a:t> </a:t>
            </a:r>
            <a:r>
              <a:rPr sz="2000" dirty="0" err="1"/>
              <a:t>responsabilidades</a:t>
            </a:r>
            <a:r>
              <a:rPr sz="2000" dirty="0"/>
              <a:t> y </a:t>
            </a:r>
            <a:r>
              <a:rPr sz="2000" dirty="0" err="1"/>
              <a:t>hacer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 al </a:t>
            </a:r>
            <a:r>
              <a:rPr sz="2000" dirty="0" err="1"/>
              <a:t>trabajo</a:t>
            </a:r>
            <a:r>
              <a:rPr sz="2000" dirty="0"/>
              <a:t> del </a:t>
            </a:r>
            <a:r>
              <a:rPr sz="2000" dirty="0" err="1"/>
              <a:t>grupo</a:t>
            </a:r>
            <a:r>
              <a:rPr sz="20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337560" cy="2601812"/>
          </a:xfrm>
          <a:prstGeom prst="roundRect">
            <a:avLst/>
          </a:prstGeom>
          <a:solidFill>
            <a:srgbClr val="FFFFFF"/>
          </a:solidFill>
          <a:ln>
            <a:solidFill>
              <a:srgbClr val="DC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5" name="Rectangle 14"/>
          <p:cNvSpPr/>
          <p:nvPr/>
        </p:nvSpPr>
        <p:spPr>
          <a:xfrm>
            <a:off x="8183879" y="1508760"/>
            <a:ext cx="68580" cy="2601812"/>
          </a:xfrm>
          <a:prstGeom prst="rect">
            <a:avLst/>
          </a:prstGeom>
          <a:solidFill>
            <a:srgbClr val="2D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8385048" y="1664207"/>
            <a:ext cx="2971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E3949"/>
                </a:solidFill>
                <a:latin typeface="Aptos"/>
              </a:defRPr>
            </a:pPr>
            <a:r>
              <a:rPr sz="2000" dirty="0" err="1"/>
              <a:t>Aplicación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385048" y="2073166"/>
            <a:ext cx="297180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0393F"/>
                </a:solidFill>
                <a:latin typeface="Aptos"/>
              </a:defRPr>
            </a:pPr>
            <a:r>
              <a:rPr sz="2000" dirty="0"/>
              <a:t>Por sus </a:t>
            </a:r>
            <a:r>
              <a:rPr sz="2000" dirty="0" err="1"/>
              <a:t>características</a:t>
            </a:r>
            <a:r>
              <a:rPr sz="2000" dirty="0"/>
              <a:t>, IAPOYO es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aplicación</a:t>
            </a:r>
            <a:r>
              <a:rPr sz="2000" dirty="0"/>
              <a:t> web </a:t>
            </a:r>
            <a:r>
              <a:rPr sz="2000" dirty="0" err="1"/>
              <a:t>interactiva</a:t>
            </a:r>
            <a:r>
              <a:rPr sz="2000" dirty="0"/>
              <a:t> </a:t>
            </a:r>
            <a:r>
              <a:rPr sz="2000" dirty="0" err="1"/>
              <a:t>orientada</a:t>
            </a:r>
            <a:r>
              <a:rPr sz="2000" dirty="0"/>
              <a:t> a </a:t>
            </a:r>
            <a:r>
              <a:rPr sz="2000" dirty="0" err="1"/>
              <a:t>información</a:t>
            </a:r>
            <a:r>
              <a:rPr sz="2000" dirty="0"/>
              <a:t>, </a:t>
            </a:r>
            <a:r>
              <a:rPr sz="2000" dirty="0" err="1"/>
              <a:t>prevención</a:t>
            </a:r>
            <a:r>
              <a:rPr sz="2000" dirty="0"/>
              <a:t> y orientación.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486400"/>
            <a:ext cx="9555480" cy="566928"/>
          </a:xfrm>
          <a:prstGeom prst="roundRect">
            <a:avLst/>
          </a:prstGeom>
          <a:solidFill>
            <a:srgbClr val="E7F4F2"/>
          </a:solidFill>
          <a:ln>
            <a:solidFill>
              <a:srgbClr val="2D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1554480" y="5615975"/>
            <a:ext cx="90982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E3949"/>
                </a:solidFill>
                <a:latin typeface="Aptos"/>
              </a:defRPr>
            </a:pPr>
            <a:r>
              <a:rPr sz="1400" dirty="0"/>
              <a:t>La </a:t>
            </a:r>
            <a:r>
              <a:rPr sz="1400" dirty="0" err="1"/>
              <a:t>ingeniería</a:t>
            </a:r>
            <a:r>
              <a:rPr sz="1400" dirty="0"/>
              <a:t> de software </a:t>
            </a:r>
            <a:r>
              <a:rPr sz="1400" dirty="0" err="1"/>
              <a:t>permite</a:t>
            </a:r>
            <a:r>
              <a:rPr sz="1400" dirty="0"/>
              <a:t> </a:t>
            </a:r>
            <a:r>
              <a:rPr sz="1400" dirty="0" err="1"/>
              <a:t>convertir</a:t>
            </a:r>
            <a:r>
              <a:rPr sz="1400" dirty="0"/>
              <a:t> la idea de IAPOYO </a:t>
            </a:r>
            <a:r>
              <a:rPr sz="1400" dirty="0" err="1"/>
              <a:t>en</a:t>
            </a:r>
            <a:r>
              <a:rPr sz="1400" dirty="0"/>
              <a:t> un </a:t>
            </a:r>
            <a:r>
              <a:rPr sz="1400" dirty="0" err="1"/>
              <a:t>proyecto</a:t>
            </a:r>
            <a:r>
              <a:rPr sz="1400" dirty="0"/>
              <a:t> </a:t>
            </a:r>
            <a:r>
              <a:rPr sz="1400" dirty="0" err="1"/>
              <a:t>organizado</a:t>
            </a:r>
            <a:r>
              <a:rPr sz="1400" dirty="0"/>
              <a:t> y </a:t>
            </a:r>
            <a:r>
              <a:rPr sz="1400" dirty="0" err="1"/>
              <a:t>verificable</a:t>
            </a:r>
            <a:r>
              <a:rPr sz="14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DC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12648" y="6473952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46F76"/>
                </a:solidFill>
                <a:latin typeface="Aptos"/>
              </a:defRPr>
            </a:pPr>
            <a:r>
              <a:rPr dirty="0"/>
              <a:t>Proyecto IAPOYO · Desarrollo de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ED8928E637BE4EA6269A009762AC5A" ma:contentTypeVersion="10" ma:contentTypeDescription="Create a new document." ma:contentTypeScope="" ma:versionID="4c19222b39c6721243fdf5b84ae67e75">
  <xsd:schema xmlns:xsd="http://www.w3.org/2001/XMLSchema" xmlns:xs="http://www.w3.org/2001/XMLSchema" xmlns:p="http://schemas.microsoft.com/office/2006/metadata/properties" xmlns:ns2="b15d8b9c-3d00-4f04-8635-80aabd33f15f" xmlns:ns3="c91dab56-35a4-4242-96c7-7765bb116815" targetNamespace="http://schemas.microsoft.com/office/2006/metadata/properties" ma:root="true" ma:fieldsID="adcb421ce36cd45bfc23f19cc89e6942" ns2:_="" ns3:_="">
    <xsd:import namespace="b15d8b9c-3d00-4f04-8635-80aabd33f15f"/>
    <xsd:import namespace="c91dab56-35a4-4242-96c7-7765bb116815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5d8b9c-3d00-4f04-8635-80aabd33f15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bc514f6-fec0-4fd6-8a1a-708b19cc1a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dab56-35a4-4242-96c7-7765bb1168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c41f378a-4fbf-4a4e-b444-a28885acae56}" ma:internalName="TaxCatchAll" ma:showField="CatchAllData" ma:web="c91dab56-35a4-4242-96c7-7765bb1168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15d8b9c-3d00-4f04-8635-80aabd33f15f" xsi:nil="true"/>
    <lcf76f155ced4ddcb4097134ff3c332f xmlns="b15d8b9c-3d00-4f04-8635-80aabd33f15f">
      <Terms xmlns="http://schemas.microsoft.com/office/infopath/2007/PartnerControls"/>
    </lcf76f155ced4ddcb4097134ff3c332f>
    <TaxCatchAll xmlns="c91dab56-35a4-4242-96c7-7765bb11681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EF4E6B-6C6B-4103-8921-ECC6094026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5d8b9c-3d00-4f04-8635-80aabd33f15f"/>
    <ds:schemaRef ds:uri="c91dab56-35a4-4242-96c7-7765bb1168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E9A754-9012-4A06-9C23-F5ABAD83A6F5}">
  <ds:schemaRefs>
    <ds:schemaRef ds:uri="http://schemas.microsoft.com/office/2006/metadata/properties"/>
    <ds:schemaRef ds:uri="http://schemas.microsoft.com/office/infopath/2007/PartnerControls"/>
    <ds:schemaRef ds:uri="b15d8b9c-3d00-4f04-8635-80aabd33f15f"/>
    <ds:schemaRef ds:uri="c91dab56-35a4-4242-96c7-7765bb116815"/>
  </ds:schemaRefs>
</ds:datastoreItem>
</file>

<file path=customXml/itemProps3.xml><?xml version="1.0" encoding="utf-8"?>
<ds:datastoreItem xmlns:ds="http://schemas.openxmlformats.org/officeDocument/2006/customXml" ds:itemID="{AFF5C7DF-DD06-4E28-A7E7-14B0B945A7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925</Words>
  <Application>Microsoft Office PowerPoint</Application>
  <PresentationFormat>Widescreen</PresentationFormat>
  <Paragraphs>141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JULIAN CAMILO PEREZ SOGAMOSO</dc:creator>
  <cp:keywords/>
  <dc:description>generated using python-pptx</dc:description>
  <cp:lastModifiedBy>JULIAN CAMILO PEREZ SOGAMOSO</cp:lastModifiedBy>
  <cp:revision>3</cp:revision>
  <dcterms:created xsi:type="dcterms:W3CDTF">2013-01-27T09:14:16Z</dcterms:created>
  <dcterms:modified xsi:type="dcterms:W3CDTF">2026-10-08T01:08:29Z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0x0101005FED8928E637BE4EA6269A009762AC5A</vt:lpwstr>
  </property>
</Properties>
</file>